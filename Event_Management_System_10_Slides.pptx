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C3"/>
                </a:solidFill>
              </a:defRPr>
            </a:pPr>
            <a:r>
              <a:t>01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0" y="914400"/>
            <a:ext cx="2011680" cy="20116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75520" y="2834640"/>
            <a:ext cx="1463040" cy="146304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38160" y="3383280"/>
            <a:ext cx="1005840" cy="1005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72237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E94560"/>
                </a:solidFill>
                <a:latin typeface="Aptos"/>
              </a:defRPr>
            </a:pPr>
            <a:r>
              <a:t>SUMMER INTERNSHIP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498079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F0F0F8"/>
                </a:solidFill>
                <a:latin typeface="Aptos"/>
              </a:defRPr>
            </a:pPr>
            <a:r>
              <a:t>EVENT MANAGEMENT</a:t>
            </a:r>
            <a:br/>
            <a:r>
              <a:t>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70408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100" b="0">
                <a:solidFill>
                  <a:srgbClr val="AAAAC3"/>
                </a:solidFill>
                <a:latin typeface="Aptos"/>
              </a:defRPr>
            </a:pPr>
            <a:r>
              <a:t>A Full-Stack Web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09160"/>
            <a:ext cx="685800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F0F0F8"/>
                </a:solidFill>
                <a:latin typeface="Aptos"/>
              </a:defRPr>
            </a:pPr>
            <a:r>
              <a:t>Presented by: RANGANATHAN.M</a:t>
            </a:r>
            <a:br/>
            <a:r>
              <a:t>B.Tech Information Technology | Reg. No. 810023205091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33872"/>
            <a:ext cx="7498079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AAAAC3"/>
                </a:solidFill>
                <a:latin typeface="Aptos"/>
              </a:defRPr>
            </a:pPr>
            <a:r>
              <a:t>Fantasy Solution • University College of Engineering (BIT Campus)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C3"/>
                </a:solidFill>
              </a:defRPr>
            </a:pPr>
            <a:r>
              <a:t>02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78992"/>
            <a:ext cx="100584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C3"/>
                </a:solidFill>
                <a:latin typeface="Aptos"/>
              </a:defRPr>
            </a:pPr>
            <a:r>
              <a:t>A centralized platform for event planning and attendee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9848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F0F0F8"/>
                </a:solidFill>
                <a:latin typeface="Aptos"/>
              </a:defRPr>
            </a:pPr>
            <a:r>
              <a:t>Web-based system to create, publish, discover and manage events.</a:t>
            </a:r>
          </a:p>
          <a:p>
            <a:pPr>
              <a:spcAft>
                <a:spcPts val="1700"/>
              </a:spcAft>
              <a:defRPr sz="1900">
                <a:solidFill>
                  <a:srgbClr val="F0F0F8"/>
                </a:solidFill>
                <a:latin typeface="Aptos"/>
              </a:defRPr>
            </a:pPr>
            <a:r>
              <a:t>Attendees can register, book tickets, make payments and request cancellations or refunds.</a:t>
            </a:r>
          </a:p>
          <a:p>
            <a:pPr>
              <a:spcAft>
                <a:spcPts val="1700"/>
              </a:spcAft>
              <a:defRPr sz="1900">
                <a:solidFill>
                  <a:srgbClr val="F0F0F8"/>
                </a:solidFill>
                <a:latin typeface="Aptos"/>
              </a:defRPr>
            </a:pPr>
            <a:r>
              <a:t>Support tickets and notifications improve communication.</a:t>
            </a:r>
          </a:p>
          <a:p>
            <a:pPr>
              <a:spcAft>
                <a:spcPts val="1700"/>
              </a:spcAft>
              <a:defRPr sz="1900">
                <a:solidFill>
                  <a:srgbClr val="F0F0F8"/>
                </a:solidFill>
                <a:latin typeface="Aptos"/>
              </a:defRPr>
            </a:pPr>
            <a:r>
              <a:t>Separate access for Admin, Organizer and Attendee.</a:t>
            </a:r>
          </a:p>
          <a:p>
            <a:pPr>
              <a:spcAft>
                <a:spcPts val="1700"/>
              </a:spcAft>
              <a:defRPr sz="1900">
                <a:solidFill>
                  <a:srgbClr val="F0F0F8"/>
                </a:solidFill>
                <a:latin typeface="Aptos"/>
              </a:defRPr>
            </a:pPr>
            <a:r>
              <a:t>Goal: reduce manual work, errors and fragmented event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4526280"/>
            <a:ext cx="3017520" cy="1234440"/>
          </a:xfrm>
          <a:prstGeom prst="roundRect">
            <a:avLst/>
          </a:prstGeom>
          <a:solidFill>
            <a:srgbClr val="1A1A35"/>
          </a:solidFill>
          <a:ln>
            <a:solidFill>
              <a:srgbClr val="3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38160" y="4526280"/>
            <a:ext cx="64008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4690872"/>
            <a:ext cx="26517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0B981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5184648"/>
            <a:ext cx="2651760" cy="4297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0F0F8"/>
                </a:solidFill>
                <a:latin typeface="Aptos"/>
              </a:defRPr>
            </a:pPr>
            <a:r>
              <a:t>One platform • Multiple roles • End-to-end event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C3"/>
                </a:solidFill>
              </a:defRPr>
            </a:pPr>
            <a:r>
              <a:t>03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78992"/>
            <a:ext cx="100584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C3"/>
                </a:solidFill>
                <a:latin typeface="Aptos"/>
              </a:defRPr>
            </a:pPr>
            <a:r>
              <a:t>Why the system is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3566160"/>
          </a:xfrm>
          <a:prstGeom prst="roundRect">
            <a:avLst/>
          </a:prstGeom>
          <a:solidFill>
            <a:srgbClr val="1A1A35"/>
          </a:solidFill>
          <a:ln>
            <a:solidFill>
              <a:srgbClr val="3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64008" cy="35661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56232"/>
            <a:ext cx="48463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E94560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50008"/>
            <a:ext cx="4846320" cy="2761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0F0F8"/>
                </a:solidFill>
                <a:latin typeface="Aptos"/>
              </a:defRPr>
            </a:pPr>
            <a:r>
              <a:t>• Registrations managed through calls, spreadsheets and messages</a:t>
            </a:r>
            <a:br/>
            <a:br/>
            <a:r>
              <a:t>• Payment and refund status can be difficult to track</a:t>
            </a:r>
            <a:br/>
            <a:br/>
            <a:r>
              <a:t>• Updates may be delayed or missed</a:t>
            </a:r>
            <a:br/>
            <a:br/>
            <a:r>
              <a:t>• No single dashboard for platform-wide activity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5212080" cy="3566160"/>
          </a:xfrm>
          <a:prstGeom prst="roundRect">
            <a:avLst/>
          </a:prstGeom>
          <a:solidFill>
            <a:srgbClr val="1A1A35"/>
          </a:solidFill>
          <a:ln>
            <a:solidFill>
              <a:srgbClr val="3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91640"/>
            <a:ext cx="64008" cy="3566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856232"/>
            <a:ext cx="48463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7C3AED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350008"/>
            <a:ext cx="4846320" cy="2761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0F0F8"/>
                </a:solidFill>
                <a:latin typeface="Aptos"/>
              </a:defRPr>
            </a:pPr>
            <a:r>
              <a:t>• Digitize event organization from discovery to confirmation</a:t>
            </a:r>
            <a:br/>
            <a:br/>
            <a:r>
              <a:t>• Provide role-based access</a:t>
            </a:r>
            <a:br/>
            <a:br/>
            <a:r>
              <a:t>• Support online booking, payments and support requests</a:t>
            </a:r>
            <a:br/>
            <a:br/>
            <a:r>
              <a:t>• Apply Java and web-development concepts in a practical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C3"/>
                </a:solidFill>
              </a:defRPr>
            </a:pPr>
            <a:r>
              <a:t>04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Aptos"/>
              </a:defRPr>
            </a:pPr>
            <a:r>
              <a:t>Scope &amp; User 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78992"/>
            <a:ext cx="100584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C3"/>
                </a:solidFill>
                <a:latin typeface="Aptos"/>
              </a:defRPr>
            </a:pPr>
            <a:r>
              <a:t>Key activities supported by the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474720" cy="3520440"/>
          </a:xfrm>
          <a:prstGeom prst="roundRect">
            <a:avLst/>
          </a:prstGeom>
          <a:solidFill>
            <a:srgbClr val="1A1A35"/>
          </a:solidFill>
          <a:ln>
            <a:solidFill>
              <a:srgbClr val="3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64008" cy="35204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56232"/>
            <a:ext cx="31089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E94560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50008"/>
            <a:ext cx="3108960" cy="27157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0F0F8"/>
                </a:solidFill>
                <a:latin typeface="Aptos"/>
              </a:defRPr>
            </a:pPr>
            <a:r>
              <a:t>Manage users and events</a:t>
            </a:r>
            <a:br/>
            <a:br/>
            <a:r>
              <a:t>Monitor bookings and platform activity</a:t>
            </a:r>
            <a:br/>
            <a:br/>
            <a:r>
              <a:t>Review escalated support tickets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91640"/>
            <a:ext cx="3474720" cy="3520440"/>
          </a:xfrm>
          <a:prstGeom prst="roundRect">
            <a:avLst/>
          </a:prstGeom>
          <a:solidFill>
            <a:srgbClr val="1A1A35"/>
          </a:solidFill>
          <a:ln>
            <a:solidFill>
              <a:srgbClr val="3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691640"/>
            <a:ext cx="64008" cy="3520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856232"/>
            <a:ext cx="31089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7C3AED"/>
                </a:solidFill>
                <a:latin typeface="Aptos"/>
              </a:defRPr>
            </a:pPr>
            <a:r>
              <a:t>ORGANIZER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50008"/>
            <a:ext cx="3108960" cy="27157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0F0F8"/>
                </a:solidFill>
                <a:latin typeface="Aptos"/>
              </a:defRPr>
            </a:pPr>
            <a:r>
              <a:t>Create, edit and publish events</a:t>
            </a:r>
            <a:br/>
            <a:br/>
            <a:r>
              <a:t>Set date, venue and seat capacity</a:t>
            </a:r>
            <a:br/>
            <a:br/>
            <a:r>
              <a:t>Monitor registrations and bookings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691640"/>
            <a:ext cx="3474720" cy="3520440"/>
          </a:xfrm>
          <a:prstGeom prst="roundRect">
            <a:avLst/>
          </a:prstGeom>
          <a:solidFill>
            <a:srgbClr val="1A1A35"/>
          </a:solidFill>
          <a:ln>
            <a:solidFill>
              <a:srgbClr val="3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1691640"/>
            <a:ext cx="64008" cy="3520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56232"/>
            <a:ext cx="31089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0B981"/>
                </a:solidFill>
                <a:latin typeface="Aptos"/>
              </a:defRPr>
            </a:pPr>
            <a:r>
              <a:t>ATTENDEE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350008"/>
            <a:ext cx="3108960" cy="27157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0F0F8"/>
                </a:solidFill>
                <a:latin typeface="Aptos"/>
              </a:defRPr>
            </a:pPr>
            <a:r>
              <a:t>Browse and search events</a:t>
            </a:r>
            <a:br/>
            <a:br/>
            <a:r>
              <a:t>Register and book tickets</a:t>
            </a:r>
            <a:br/>
            <a:br/>
            <a:r>
              <a:t>Track confirmations, support and refund requests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23560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AAAAC3"/>
                </a:solidFill>
                <a:latin typeface="Aptos"/>
              </a:defRPr>
            </a:pPr>
            <a:r>
              <a:t>Current scope: browser-based platform; mobile app and calendar integration are future enhancements.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C3"/>
                </a:solidFill>
              </a:defRPr>
            </a:pPr>
            <a:r>
              <a:t>05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Aptos"/>
              </a:defRPr>
            </a:pPr>
            <a:r>
              <a:t>Technology Stack &amp;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78992"/>
            <a:ext cx="100584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C3"/>
                </a:solidFill>
                <a:latin typeface="Aptos"/>
              </a:defRPr>
            </a:pPr>
            <a:r>
              <a:t>Tools listed in the project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069080"/>
          </a:xfrm>
          <a:prstGeom prst="roundRect">
            <a:avLst/>
          </a:prstGeom>
          <a:solidFill>
            <a:srgbClr val="1A1A35"/>
          </a:solidFill>
          <a:ln>
            <a:solidFill>
              <a:srgbClr val="3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64008" cy="40690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48463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E94560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04288"/>
            <a:ext cx="4846320" cy="32644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0F0F8"/>
                </a:solidFill>
                <a:latin typeface="Aptos"/>
              </a:defRPr>
            </a:pPr>
            <a:r>
              <a:t>HTML • CSS • JavaScript • Bootstrap</a:t>
            </a:r>
            <a:br/>
            <a:br/>
            <a:r>
              <a:t>Responsive pages for event listings, forms and dashboards.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45920"/>
            <a:ext cx="5212080" cy="4069080"/>
          </a:xfrm>
          <a:prstGeom prst="roundRect">
            <a:avLst/>
          </a:prstGeom>
          <a:solidFill>
            <a:srgbClr val="1A1A35"/>
          </a:solidFill>
          <a:ln>
            <a:solidFill>
              <a:srgbClr val="3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45920"/>
            <a:ext cx="64008" cy="4069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810512"/>
            <a:ext cx="48463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7C3AED"/>
                </a:solidFill>
                <a:latin typeface="Aptos"/>
              </a:defRPr>
            </a:pPr>
            <a:r>
              <a:t>BACKEND &amp;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304288"/>
            <a:ext cx="4846320" cy="32644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0F0F8"/>
                </a:solidFill>
                <a:latin typeface="Aptos"/>
              </a:defRPr>
            </a:pPr>
            <a:r>
              <a:t>Java (JDK 17) • Spring Boot • Spring Security</a:t>
            </a:r>
            <a:br/>
            <a:r>
              <a:t>Hibernate / Spring Data JPA • MySQL</a:t>
            </a:r>
            <a:br/>
            <a:br/>
            <a:r>
              <a:t>IDE: Eclipse / IntelliJ IDEA</a:t>
            </a:r>
            <a:br/>
            <a:r>
              <a:t>Server: Apache Tomcat • Git/GitHub • JUnit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C3"/>
                </a:solidFill>
                <a:latin typeface="Aptos"/>
              </a:defRPr>
            </a:pPr>
            <a:r>
              <a:t>Hardware baseline: Intel i3 or equivalent, 4 GB RAM minimum, 20 GB free disk space.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C3"/>
                </a:solidFill>
              </a:defRPr>
            </a:pPr>
            <a:r>
              <a:t>06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Aptos"/>
              </a:defRPr>
            </a:pPr>
            <a:r>
              <a:t>System Architecture &amp;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78992"/>
            <a:ext cx="100584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C3"/>
                </a:solidFill>
                <a:latin typeface="Aptos"/>
              </a:defRPr>
            </a:pPr>
            <a:r>
              <a:t>Layered client-server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2148840" cy="914400"/>
          </a:xfrm>
          <a:prstGeom prst="roundRect">
            <a:avLst/>
          </a:prstGeom>
          <a:solidFill>
            <a:srgbClr val="1A1A35"/>
          </a:solidFill>
          <a:ln>
            <a:solidFill>
              <a:srgbClr val="3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64008" cy="914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39112"/>
            <a:ext cx="17830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E94560"/>
                </a:solidFill>
                <a:latin typeface="Aptos"/>
              </a:defRPr>
            </a:pPr>
            <a:r>
              <a:t>Presentation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532887"/>
            <a:ext cx="1783080" cy="1097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0F0F8"/>
                </a:solidFill>
                <a:latin typeface="Aptos"/>
              </a:defRPr>
            </a:pPr>
            <a:r>
              <a:t>HTML / CSS / JS / Bootstrap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874519"/>
            <a:ext cx="2148840" cy="914400"/>
          </a:xfrm>
          <a:prstGeom prst="roundRect">
            <a:avLst/>
          </a:prstGeom>
          <a:solidFill>
            <a:srgbClr val="1A1A35"/>
          </a:solidFill>
          <a:ln>
            <a:solidFill>
              <a:srgbClr val="3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874519"/>
            <a:ext cx="64008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2039112"/>
            <a:ext cx="17830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7C3AED"/>
                </a:solidFill>
                <a:latin typeface="Aptos"/>
              </a:defRPr>
            </a:pPr>
            <a:r>
              <a:t>Controller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2532887"/>
            <a:ext cx="1783080" cy="1097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0F0F8"/>
                </a:solidFill>
                <a:latin typeface="Aptos"/>
              </a:defRPr>
            </a:pPr>
            <a:r>
              <a:t>Spring MVC / REST APIs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1874519"/>
            <a:ext cx="2148840" cy="914400"/>
          </a:xfrm>
          <a:prstGeom prst="roundRect">
            <a:avLst/>
          </a:prstGeom>
          <a:solidFill>
            <a:srgbClr val="1A1A35"/>
          </a:solidFill>
          <a:ln>
            <a:solidFill>
              <a:srgbClr val="3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0" y="1874519"/>
            <a:ext cx="64008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8" y="2039112"/>
            <a:ext cx="17830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0B981"/>
                </a:solidFill>
                <a:latin typeface="Aptos"/>
              </a:defRPr>
            </a:pPr>
            <a:r>
              <a:t>Service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6168" y="2532887"/>
            <a:ext cx="1783080" cy="1097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0F0F8"/>
                </a:solidFill>
                <a:latin typeface="Aptos"/>
              </a:defRPr>
            </a:pPr>
            <a:r>
              <a:t>Business logic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874519"/>
            <a:ext cx="2651760" cy="914400"/>
          </a:xfrm>
          <a:prstGeom prst="roundRect">
            <a:avLst/>
          </a:prstGeom>
          <a:solidFill>
            <a:srgbClr val="1A1A35"/>
          </a:solidFill>
          <a:ln>
            <a:solidFill>
              <a:srgbClr val="3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874519"/>
            <a:ext cx="64008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39112"/>
            <a:ext cx="22860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F59E0B"/>
                </a:solidFill>
                <a:latin typeface="Aptos"/>
              </a:defRPr>
            </a:pPr>
            <a:r>
              <a:t>Repository / DAO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2532887"/>
            <a:ext cx="2286000" cy="1097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0F0F8"/>
                </a:solidFill>
                <a:latin typeface="Aptos"/>
              </a:defRPr>
            </a:pPr>
            <a:r>
              <a:t>JPA / Hibernate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953512" y="2176272"/>
            <a:ext cx="256032" cy="256032"/>
          </a:xfrm>
          <a:prstGeom prst="rightArrow">
            <a:avLst/>
          </a:prstGeom>
          <a:solidFill>
            <a:srgbClr val="AAA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5422392" y="2176272"/>
            <a:ext cx="256032" cy="256032"/>
          </a:xfrm>
          <a:prstGeom prst="rightArrow">
            <a:avLst/>
          </a:prstGeom>
          <a:solidFill>
            <a:srgbClr val="AAA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7891272" y="2176272"/>
            <a:ext cx="256032" cy="256032"/>
          </a:xfrm>
          <a:prstGeom prst="rightArrow">
            <a:avLst/>
          </a:prstGeom>
          <a:solidFill>
            <a:srgbClr val="AAA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n 25"/>
          <p:cNvSpPr/>
          <p:nvPr/>
        </p:nvSpPr>
        <p:spPr>
          <a:xfrm>
            <a:off x="8732520" y="3657600"/>
            <a:ext cx="1600200" cy="1143000"/>
          </a:xfrm>
          <a:prstGeom prst="can">
            <a:avLst/>
          </a:prstGeom>
          <a:solidFill>
            <a:srgbClr val="1A1A3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4005072"/>
            <a:ext cx="14173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ptos"/>
              </a:defRPr>
            </a:pPr>
            <a:r>
              <a:t>MySQL 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703320"/>
            <a:ext cx="7132320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F0F0F8"/>
                </a:solidFill>
                <a:latin typeface="Aptos"/>
              </a:defRPr>
            </a:pPr>
            <a:r>
              <a:t>Attendee: Register/Login → Browse Events → Book Seat → Payment → Confirmation</a:t>
            </a:r>
            <a:br/>
            <a:r>
              <a:t>Organizer: Manage Events → Monitor Bookings</a:t>
            </a:r>
            <a:br/>
            <a:r>
              <a:t>Admin: Manage Users/Events → Monitor Activity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623560"/>
            <a:ext cx="103327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AAAAC3"/>
                </a:solidFill>
                <a:latin typeface="Aptos"/>
              </a:defRPr>
            </a:pPr>
            <a:r>
              <a:t>Spring Security enforces authentication and role-based authorization.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C3"/>
                </a:solidFill>
              </a:defRPr>
            </a:pPr>
            <a:r>
              <a:t>07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Aptos"/>
              </a:defRPr>
            </a:pPr>
            <a:r>
              <a:t>Main Modules &amp;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78992"/>
            <a:ext cx="100584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C3"/>
                </a:solidFill>
                <a:latin typeface="Aptos"/>
              </a:defRPr>
            </a:pPr>
            <a:r>
              <a:t>Functional components of the Event Management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66360" cy="804672"/>
          </a:xfrm>
          <a:prstGeom prst="roundRect">
            <a:avLst/>
          </a:prstGeom>
          <a:solidFill>
            <a:srgbClr val="1A1A35"/>
          </a:solidFill>
          <a:ln>
            <a:solidFill>
              <a:srgbClr val="3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64008" cy="8046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56232"/>
            <a:ext cx="4800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E94560"/>
                </a:solidFill>
                <a:latin typeface="Aptos"/>
              </a:defRPr>
            </a:pPr>
            <a:r>
              <a:t>01  User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50008"/>
            <a:ext cx="4800600" cy="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0F0F8"/>
                </a:solidFill>
                <a:latin typeface="Aptos"/>
              </a:defRPr>
            </a:pPr>
            <a:r>
              <a:t>Registration, login and role permissions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5166360" cy="804672"/>
          </a:xfrm>
          <a:prstGeom prst="roundRect">
            <a:avLst/>
          </a:prstGeom>
          <a:solidFill>
            <a:srgbClr val="1A1A35"/>
          </a:solidFill>
          <a:ln>
            <a:solidFill>
              <a:srgbClr val="3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91640"/>
            <a:ext cx="64008" cy="8046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856232"/>
            <a:ext cx="4800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7C3AED"/>
                </a:solidFill>
                <a:latin typeface="Aptos"/>
              </a:defRPr>
            </a:pPr>
            <a:r>
              <a:t>02  Event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350008"/>
            <a:ext cx="4800600" cy="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0F0F8"/>
                </a:solidFill>
                <a:latin typeface="Aptos"/>
              </a:defRPr>
            </a:pPr>
            <a:r>
              <a:t>Create, edit, publish and remove events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697480"/>
            <a:ext cx="5166360" cy="804672"/>
          </a:xfrm>
          <a:prstGeom prst="roundRect">
            <a:avLst/>
          </a:prstGeom>
          <a:solidFill>
            <a:srgbClr val="1A1A35"/>
          </a:solidFill>
          <a:ln>
            <a:solidFill>
              <a:srgbClr val="3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697480"/>
            <a:ext cx="64008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862072"/>
            <a:ext cx="4800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0B981"/>
                </a:solidFill>
                <a:latin typeface="Aptos"/>
              </a:defRPr>
            </a:pPr>
            <a:r>
              <a:t>03  Booking &amp; Ticketing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355848"/>
            <a:ext cx="4800600" cy="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0F0F8"/>
                </a:solidFill>
                <a:latin typeface="Aptos"/>
              </a:defRPr>
            </a:pPr>
            <a:r>
              <a:t>Register for events and confirm bookings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697480"/>
            <a:ext cx="5166360" cy="804672"/>
          </a:xfrm>
          <a:prstGeom prst="roundRect">
            <a:avLst/>
          </a:prstGeom>
          <a:solidFill>
            <a:srgbClr val="1A1A35"/>
          </a:solidFill>
          <a:ln>
            <a:solidFill>
              <a:srgbClr val="3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697480"/>
            <a:ext cx="64008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2862072"/>
            <a:ext cx="4800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F59E0B"/>
                </a:solidFill>
                <a:latin typeface="Aptos"/>
              </a:defRPr>
            </a:pPr>
            <a:r>
              <a:t>04  Payments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3355848"/>
            <a:ext cx="4800600" cy="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0F0F8"/>
                </a:solidFill>
                <a:latin typeface="Aptos"/>
              </a:defRPr>
            </a:pPr>
            <a:r>
              <a:t>Record payment and transaction status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703320"/>
            <a:ext cx="5166360" cy="804672"/>
          </a:xfrm>
          <a:prstGeom prst="roundRect">
            <a:avLst/>
          </a:prstGeom>
          <a:solidFill>
            <a:srgbClr val="1A1A35"/>
          </a:solidFill>
          <a:ln>
            <a:solidFill>
              <a:srgbClr val="3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703320"/>
            <a:ext cx="64008" cy="8046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3867911"/>
            <a:ext cx="4800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E94560"/>
                </a:solidFill>
                <a:latin typeface="Aptos"/>
              </a:defRPr>
            </a:pPr>
            <a:r>
              <a:t>05  Refunds &amp; Cancellations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361688"/>
            <a:ext cx="4800600" cy="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0F0F8"/>
                </a:solidFill>
                <a:latin typeface="Aptos"/>
              </a:defRPr>
            </a:pPr>
            <a:r>
              <a:t>Submit and process requests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703320"/>
            <a:ext cx="5166360" cy="804672"/>
          </a:xfrm>
          <a:prstGeom prst="roundRect">
            <a:avLst/>
          </a:prstGeom>
          <a:solidFill>
            <a:srgbClr val="1A1A35"/>
          </a:solidFill>
          <a:ln>
            <a:solidFill>
              <a:srgbClr val="3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703320"/>
            <a:ext cx="64008" cy="8046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7" y="3867911"/>
            <a:ext cx="4800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7C3AED"/>
                </a:solidFill>
                <a:latin typeface="Aptos"/>
              </a:defRPr>
            </a:pPr>
            <a:r>
              <a:t>06  Support Tickets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7" y="4361688"/>
            <a:ext cx="4800600" cy="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0F0F8"/>
                </a:solidFill>
                <a:latin typeface="Aptos"/>
              </a:defRPr>
            </a:pPr>
            <a:r>
              <a:t>Raise queries and track resolution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709160"/>
            <a:ext cx="5166360" cy="804672"/>
          </a:xfrm>
          <a:prstGeom prst="roundRect">
            <a:avLst/>
          </a:prstGeom>
          <a:solidFill>
            <a:srgbClr val="1A1A35"/>
          </a:solidFill>
          <a:ln>
            <a:solidFill>
              <a:srgbClr val="3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709160"/>
            <a:ext cx="64008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873752"/>
            <a:ext cx="4800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0B981"/>
                </a:solidFill>
                <a:latin typeface="Aptos"/>
              </a:defRPr>
            </a:pPr>
            <a:r>
              <a:t>07  Notifications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5367528"/>
            <a:ext cx="4800600" cy="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0F0F8"/>
                </a:solidFill>
                <a:latin typeface="Aptos"/>
              </a:defRPr>
            </a:pPr>
            <a:r>
              <a:t>Booking and event updates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709160"/>
            <a:ext cx="5166360" cy="804672"/>
          </a:xfrm>
          <a:prstGeom prst="roundRect">
            <a:avLst/>
          </a:prstGeom>
          <a:solidFill>
            <a:srgbClr val="1A1A35"/>
          </a:solidFill>
          <a:ln>
            <a:solidFill>
              <a:srgbClr val="3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4709160"/>
            <a:ext cx="64008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7" y="4873752"/>
            <a:ext cx="4800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F59E0B"/>
                </a:solidFill>
                <a:latin typeface="Aptos"/>
              </a:defRPr>
            </a:pPr>
            <a:r>
              <a:t>08  Admin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7" y="5367528"/>
            <a:ext cx="4800600" cy="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0F0F8"/>
                </a:solidFill>
                <a:latin typeface="Aptos"/>
              </a:defRPr>
            </a:pPr>
            <a:r>
              <a:t>Overview of users, events and tickets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C3"/>
                </a:solidFill>
              </a:defRPr>
            </a:pPr>
            <a:r>
              <a:t>08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Aptos"/>
              </a:defRPr>
            </a:pPr>
            <a:r>
              <a:t>Implementation &amp;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78992"/>
            <a:ext cx="100584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C3"/>
                </a:solidFill>
                <a:latin typeface="Aptos"/>
              </a:defRPr>
            </a:pPr>
            <a:r>
              <a:t>Development process and quality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3886200"/>
          </a:xfrm>
          <a:prstGeom prst="roundRect">
            <a:avLst/>
          </a:prstGeom>
          <a:solidFill>
            <a:srgbClr val="1A1A35"/>
          </a:solidFill>
          <a:ln>
            <a:solidFill>
              <a:srgbClr val="3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64008" cy="3886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56232"/>
            <a:ext cx="48463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E94560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50008"/>
            <a:ext cx="4846320" cy="30815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0F0F8"/>
                </a:solidFill>
                <a:latin typeface="Aptos"/>
              </a:defRPr>
            </a:pPr>
            <a:r>
              <a:t>1. Gather requirements and design database entities</a:t>
            </a:r>
            <a:br/>
            <a:br/>
            <a:r>
              <a:t>2. Build REST endpoints and service logic</a:t>
            </a:r>
            <a:br/>
            <a:br/>
            <a:r>
              <a:t>3. Integrate frontend with backend APIs</a:t>
            </a:r>
            <a:br/>
            <a:br/>
            <a:r>
              <a:t>4. Secure endpoints by user role</a:t>
            </a:r>
            <a:br/>
            <a:br/>
            <a:r>
              <a:t>5. Use Git for version control and deploy on Tomcat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5212080" cy="3886200"/>
          </a:xfrm>
          <a:prstGeom prst="roundRect">
            <a:avLst/>
          </a:prstGeom>
          <a:solidFill>
            <a:srgbClr val="1A1A35"/>
          </a:solidFill>
          <a:ln>
            <a:solidFill>
              <a:srgbClr val="3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91640"/>
            <a:ext cx="64008" cy="388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856232"/>
            <a:ext cx="48463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7C3AED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350008"/>
            <a:ext cx="4846320" cy="30815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0F0F8"/>
                </a:solidFill>
                <a:latin typeface="Aptos"/>
              </a:defRPr>
            </a:pPr>
            <a:r>
              <a:t>• Unit tests for service/repository logic using JUnit</a:t>
            </a:r>
            <a:br/>
            <a:br/>
            <a:r>
              <a:t>• Integration tests for controller, service and database</a:t>
            </a:r>
            <a:br/>
            <a:br/>
            <a:r>
              <a:t>• Manual tests for login, event creation, booking, payment, refund and support</a:t>
            </a:r>
            <a:br/>
            <a:br/>
            <a:r>
              <a:t>• Validation and error-handling checks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C3"/>
                </a:solidFill>
              </a:defRPr>
            </a:pPr>
            <a:r>
              <a:t>09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Aptos"/>
              </a:defRPr>
            </a:pPr>
            <a:r>
              <a:t>Internship 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78992"/>
            <a:ext cx="100584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C3"/>
                </a:solidFill>
                <a:latin typeface="Aptos"/>
              </a:defRPr>
            </a:pPr>
            <a:r>
              <a:t>30-day training at Fantasy Solution, Trichy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9848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700"/>
              </a:spcAft>
              <a:defRPr sz="1800">
                <a:solidFill>
                  <a:srgbClr val="F0F0F8"/>
                </a:solidFill>
                <a:latin typeface="Aptos"/>
              </a:defRPr>
            </a:pPr>
            <a:r>
              <a:t>Built foundations in Java, OOP, collections, multithreading and JDBC.</a:t>
            </a:r>
          </a:p>
          <a:p>
            <a:pPr>
              <a:spcAft>
                <a:spcPts val="1700"/>
              </a:spcAft>
              <a:defRPr sz="1800">
                <a:solidFill>
                  <a:srgbClr val="F0F0F8"/>
                </a:solidFill>
                <a:latin typeface="Aptos"/>
              </a:defRPr>
            </a:pPr>
            <a:r>
              <a:t>Learned enterprise web technologies: Servlets, JSP, Spring and Spring Boot.</a:t>
            </a:r>
          </a:p>
          <a:p>
            <a:pPr>
              <a:spcAft>
                <a:spcPts val="1700"/>
              </a:spcAft>
              <a:defRPr sz="1800">
                <a:solidFill>
                  <a:srgbClr val="F0F0F8"/>
                </a:solidFill>
                <a:latin typeface="Aptos"/>
              </a:defRPr>
            </a:pPr>
            <a:r>
              <a:t>Practiced Hibernate/JPA, REST APIs and Spring Security.</a:t>
            </a:r>
          </a:p>
          <a:p>
            <a:pPr>
              <a:spcAft>
                <a:spcPts val="1700"/>
              </a:spcAft>
              <a:defRPr sz="1800">
                <a:solidFill>
                  <a:srgbClr val="F0F0F8"/>
                </a:solidFill>
                <a:latin typeface="Aptos"/>
              </a:defRPr>
            </a:pPr>
            <a:r>
              <a:t>Gained experience in database design, frontend integration, testing and deployment.</a:t>
            </a:r>
          </a:p>
          <a:p>
            <a:pPr>
              <a:spcAft>
                <a:spcPts val="1700"/>
              </a:spcAft>
              <a:defRPr sz="1800">
                <a:solidFill>
                  <a:srgbClr val="F0F0F8"/>
                </a:solidFill>
                <a:latin typeface="Aptos"/>
              </a:defRPr>
            </a:pPr>
            <a:r>
              <a:t>Improved structured problem-solving, time management and teamwork.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4709160"/>
            <a:ext cx="3291840" cy="1005840"/>
          </a:xfrm>
          <a:prstGeom prst="roundRect">
            <a:avLst/>
          </a:prstGeom>
          <a:solidFill>
            <a:srgbClr val="1A1A35"/>
          </a:solidFill>
          <a:ln>
            <a:solidFill>
              <a:srgbClr val="3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0" y="4709160"/>
            <a:ext cx="6400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65008" y="4873752"/>
            <a:ext cx="29260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0B981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5008" y="5367528"/>
            <a:ext cx="29260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0F0F8"/>
                </a:solidFill>
                <a:latin typeface="Aptos"/>
              </a:defRPr>
            </a:pPr>
            <a:r>
              <a:t>Applied classroom concepts to a practical full-stack project.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C3"/>
                </a:solidFill>
              </a:defRPr>
            </a:pPr>
            <a:r>
              <a:t>10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Aptos"/>
              </a:defRPr>
            </a:pPr>
            <a:r>
              <a:t>Conclusion &amp; 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78992"/>
            <a:ext cx="100584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C3"/>
                </a:solidFill>
                <a:latin typeface="Aptos"/>
              </a:defRPr>
            </a:pPr>
            <a:r>
              <a:t>Project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3977639"/>
          </a:xfrm>
          <a:prstGeom prst="roundRect">
            <a:avLst/>
          </a:prstGeom>
          <a:solidFill>
            <a:srgbClr val="1A1A35"/>
          </a:solidFill>
          <a:ln>
            <a:solidFill>
              <a:srgbClr val="3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64008" cy="397763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48463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0B981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04288"/>
            <a:ext cx="4846320" cy="31729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0F0F8"/>
                </a:solidFill>
                <a:latin typeface="Aptos"/>
              </a:defRPr>
            </a:pPr>
            <a:r>
              <a:t>The system brings event creation, registration, booking, payment, refunds and support into one web platform.</a:t>
            </a:r>
            <a:br/>
            <a:br/>
            <a:r>
              <a:t>It demonstrates full-stack development and role-based workflows for Admin, Organizer and Attendee.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45920"/>
            <a:ext cx="5212080" cy="3977639"/>
          </a:xfrm>
          <a:prstGeom prst="roundRect">
            <a:avLst/>
          </a:prstGeom>
          <a:solidFill>
            <a:srgbClr val="1A1A35"/>
          </a:solidFill>
          <a:ln>
            <a:solidFill>
              <a:srgbClr val="3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45920"/>
            <a:ext cx="64008" cy="397763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810512"/>
            <a:ext cx="48463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7C3AED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304288"/>
            <a:ext cx="4846320" cy="31729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0F0F8"/>
                </a:solidFill>
                <a:latin typeface="Aptos"/>
              </a:defRPr>
            </a:pPr>
            <a:r>
              <a:t>• Real payment gateway integration</a:t>
            </a:r>
            <a:br/>
            <a:br/>
            <a:r>
              <a:t>• SMS/email notifications</a:t>
            </a:r>
            <a:br/>
            <a:br/>
            <a:r>
              <a:t>• Android/iOS mobile app</a:t>
            </a:r>
            <a:br/>
            <a:br/>
            <a:r>
              <a:t>• QR-code tickets and check-in</a:t>
            </a:r>
            <a:br/>
            <a:br/>
            <a:r>
              <a:t>• Analytics dashboard, languages and calendar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97880"/>
            <a:ext cx="103327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E94560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